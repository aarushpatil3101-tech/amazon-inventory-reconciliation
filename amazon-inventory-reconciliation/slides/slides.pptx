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latin typeface="Calibri"/>
              </a:rPr>
              <a:t>Images per class (items in bin)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Images per class (items in bin)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848.0</c:v>
                </c:pt>
                <c:pt idx="1">
                  <c:v>3368.0</c:v>
                </c:pt>
                <c:pt idx="2">
                  <c:v>6387.0</c:v>
                </c:pt>
                <c:pt idx="3">
                  <c:v>7598.0</c:v>
                </c:pt>
                <c:pt idx="4">
                  <c:v>6660.0</c:v>
                </c:pt>
                <c:pt idx="5">
                  <c:v>5139.0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117.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latin typeface="Calibri"/>
              </a:rPr>
              <a:t>Test 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F3A5F"/>
            </a:solidFill>
          </c:spPr>
          <c:dPt>
            <c:idx val="5"/>
            <c:spPr>
              <a:solidFill>
                <a:srgbClr val="2A9D8F"/>
              </a:solidFill>
            </c:spPr>
          </c:dPt>
          <c:cat>
            <c:strRef>
              <c:f>Sheet1!$A$2:$A$8</c:f>
              <c:strCache>
                <c:ptCount val="7"/>
                <c:pt idx="0">
                  <c:v>LogReg (PCA)</c:v>
                </c:pt>
                <c:pt idx="1">
                  <c:v>Linear SVM (PCA)</c:v>
                </c:pt>
                <c:pt idx="2">
                  <c:v>Decision tree (PCA)</c:v>
                </c:pt>
                <c:pt idx="3">
                  <c:v>RBF-SVM (PCA)</c:v>
                </c:pt>
                <c:pt idx="4">
                  <c:v>RBF-SVM (HOG)</c:v>
                </c:pt>
                <c:pt idx="5">
                  <c:v>resnet34 cls</c:v>
                </c:pt>
                <c:pt idx="6">
                  <c:v>resnet34 ordinal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28.499999999999996</c:v>
                </c:pt>
                <c:pt idx="1">
                  <c:v>27.666666666666668</c:v>
                </c:pt>
                <c:pt idx="2">
                  <c:v>25.5</c:v>
                </c:pt>
                <c:pt idx="3">
                  <c:v>29.799999999999997</c:v>
                </c:pt>
                <c:pt idx="4">
                  <c:v>31.933333333333337</c:v>
                </c:pt>
                <c:pt idx="5">
                  <c:v>41.16666666666667</c:v>
                </c:pt>
                <c:pt idx="6">
                  <c:v>39.4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9.40000000000000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one-line pitch. Problem = count items in a bin from a photo, use it to catch inventory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business value: recount only flagged bins instead of auditing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Amazon Inventory Reconciliation Using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 i="0">
                <a:solidFill>
                  <a:srgbClr val="C9D6E3"/>
                </a:solidFill>
                <a:latin typeface="Calibri"/>
              </a:rPr>
              <a:t>Counting the items in a fulfilment-centre bin from one photo - and flagging bins whose recorded inventory disagrees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Aarush Patil &amp; Aryan Arora  |  PES1UG24AM005 / PES1UG24AM055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C9D6E3"/>
                </a:solidFill>
                <a:latin typeface="Calibri"/>
              </a:rPr>
              <a:t>UE24CS352A Machine Learning - Mini-Project  |  PES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The problem: recorded inventory vs. what is really in the bin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Setting: </a:t>
            </a:r>
            <a:r>
              <a:rPr sz="1900">
                <a:solidFill>
                  <a:srgbClr val="222B38"/>
                </a:solidFill>
                <a:latin typeface="Calibri"/>
              </a:rPr>
              <a:t>robots carry fabric bins in Amazon fulfilment centres; items get misplaced while handled.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Consequence: </a:t>
            </a:r>
            <a:r>
              <a:rPr sz="1900">
                <a:solidFill>
                  <a:srgbClr val="222B38"/>
                </a:solidFill>
                <a:latin typeface="Calibri"/>
              </a:rPr>
              <a:t>recorded count != actual count, so customers get late or wrong deliveries.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Our task: </a:t>
            </a:r>
            <a:r>
              <a:rPr sz="1900">
                <a:solidFill>
                  <a:srgbClr val="222B38"/>
                </a:solidFill>
                <a:latin typeface="Calibri"/>
              </a:rPr>
              <a:t>predict the number of items (0-5) from a bin photo; compare with the recorded count.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Why hard: </a:t>
            </a:r>
            <a:r>
              <a:rPr sz="1900">
                <a:solidFill>
                  <a:srgbClr val="222B38"/>
                </a:solidFill>
                <a:latin typeface="Calibri"/>
              </a:rPr>
              <a:t>occlusion by tape/bags, mixed shapes, 450K+ different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112014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Bin photo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57515" y="2578608"/>
            <a:ext cx="20116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95260" y="2011680"/>
            <a:ext cx="112014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CNN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counts items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51976" y="2578608"/>
            <a:ext cx="20116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9720" y="2011680"/>
            <a:ext cx="112014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Predicted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vs recorded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346436" y="2578608"/>
            <a:ext cx="20116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84180" y="2011680"/>
            <a:ext cx="1120140" cy="13716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MATCH /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39"/>
            <a:ext cx="53035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6B7785"/>
                </a:solidFill>
                <a:latin typeface="Calibri"/>
              </a:rPr>
              <a:t>Reconciliation = flag bins where the camera disagrees with the system, then recount only those.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Dataset: Amazon Bin Image Dataset (ABID)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Source: </a:t>
            </a:r>
            <a:r>
              <a:rPr sz="1800">
                <a:solidFill>
                  <a:srgbClr val="222B38"/>
                </a:solidFill>
                <a:latin typeface="Calibri"/>
              </a:rPr>
              <a:t>public AWS Open Data bucket aft-vbi-pds, 535,234 bin photos with JSON metadata.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Label: </a:t>
            </a:r>
            <a:r>
              <a:rPr sz="1800">
                <a:solidFill>
                  <a:srgbClr val="222B38"/>
                </a:solidFill>
                <a:latin typeface="Calibri"/>
              </a:rPr>
              <a:t>EXPECTED_QUANTITY = number of items in the bin.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Our subset: </a:t>
            </a:r>
            <a:r>
              <a:rPr sz="1800">
                <a:solidFill>
                  <a:srgbClr val="222B38"/>
                </a:solidFill>
                <a:latin typeface="Calibri"/>
              </a:rPr>
              <a:t>random sample (seed 42), bins with 0-5 items, resized to 224x224.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Split: </a:t>
            </a:r>
            <a:r>
              <a:rPr sz="1800">
                <a:solidFill>
                  <a:srgbClr val="222B38"/>
                </a:solidFill>
                <a:latin typeface="Calibri"/>
              </a:rPr>
              <a:t>30,000 images: 21,000 train / 6,000 val / 3,000 test (stratified 70/20/10).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Caveat: </a:t>
            </a:r>
            <a:r>
              <a:rPr sz="1800">
                <a:solidFill>
                  <a:srgbClr val="222B38"/>
                </a:solidFill>
                <a:latin typeface="Calibri"/>
              </a:rPr>
              <a:t>some photos are unreadable even for humans.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0" y="1371600"/>
          <a:ext cx="5029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Approach: one reproducible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956815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Download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resize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5496" y="2103120"/>
            <a:ext cx="1956815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Stratified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18888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02351" y="2103120"/>
            <a:ext cx="1956815" cy="1463040"/>
          </a:xfrm>
          <a:prstGeom prst="roundRect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Baselines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PCA / HOG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95743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79207" y="2103120"/>
            <a:ext cx="1956815" cy="14630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ResNet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72599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56063" y="2103120"/>
            <a:ext cx="1956815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Evaluate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download_data.py, build_splits.py - data over HTTPS, no AWS account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baselines.py - scikit-learn models on PCA / HOG features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train_cnn.py - PyTorch ResNet with SGDR, LR finder, AMP, TTA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make_results.py, demo.py - metrics, figures, variance detection, Gradio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Classical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Features: </a:t>
            </a:r>
            <a:r>
              <a:rPr sz="1700">
                <a:solidFill>
                  <a:srgbClr val="222B38"/>
                </a:solidFill>
                <a:latin typeface="Calibri"/>
              </a:rPr>
              <a:t>64x64 raw pixels -&gt; standardise -&gt; randomized PCA (256 comps); HOG on grayscale.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Models: </a:t>
            </a:r>
            <a:r>
              <a:rPr sz="1700">
                <a:solidFill>
                  <a:srgbClr val="222B38"/>
                </a:solidFill>
                <a:latin typeface="Calibri"/>
              </a:rPr>
              <a:t>logistic regression, linear SVM, decision tree, RBF-SVM (8K train subsample).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Tuning: </a:t>
            </a:r>
            <a:r>
              <a:rPr sz="1700">
                <a:solidFill>
                  <a:srgbClr val="222B38"/>
                </a:solidFill>
                <a:latin typeface="Calibri"/>
              </a:rPr>
              <a:t>on the validation split; test touched once.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146304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Test acc.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Random guess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LogReg (PCA)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Linear SVM (PCA)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27.7%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Decision tree (PCA)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RBF-SVM (PCA)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29.8%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RBF-SVM (HOG)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5120640"/>
            <a:ext cx="56692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B7785"/>
                </a:solidFill>
                <a:latin typeface="Calibri"/>
              </a:rPr>
              <a:t>Hand-crafted / linear features struggle with occluded, cluttered bins.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CNN: ImageNet-pretrained ResNet, two-stage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Stage 1: </a:t>
            </a:r>
            <a:r>
              <a:rPr sz="1700">
                <a:solidFill>
                  <a:srgbClr val="222B38"/>
                </a:solidFill>
                <a:latin typeface="Calibri"/>
              </a:rPr>
              <a:t>freeze backbone, train the new head.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Stage 2: </a:t>
            </a:r>
            <a:r>
              <a:rPr sz="1700">
                <a:solidFill>
                  <a:srgbClr val="222B38"/>
                </a:solidFill>
                <a:latin typeface="Calibri"/>
              </a:rPr>
              <a:t>unfreeze all; discriminative LRs (lr/9, lr/3, lr).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Schedule: </a:t>
            </a:r>
            <a:r>
              <a:rPr sz="1700">
                <a:solidFill>
                  <a:srgbClr val="222B38"/>
                </a:solidFill>
                <a:latin typeface="Calibri"/>
              </a:rPr>
              <a:t>AdamW + cosine annealing with warm restarts (SGDR).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LR finder: </a:t>
            </a:r>
            <a:r>
              <a:rPr sz="1700">
                <a:solidFill>
                  <a:srgbClr val="222B38"/>
                </a:solidFill>
                <a:latin typeface="Calibri"/>
              </a:rPr>
              <a:t>range test picks the head LR.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Data aug: </a:t>
            </a:r>
            <a:r>
              <a:rPr sz="1700">
                <a:solidFill>
                  <a:srgbClr val="222B38"/>
                </a:solidFill>
                <a:latin typeface="Calibri"/>
              </a:rPr>
              <a:t>h-flip + colour jitter; h-flip TTA at test time.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Speed: </a:t>
            </a:r>
            <a:r>
              <a:rPr sz="1700">
                <a:solidFill>
                  <a:srgbClr val="222B38"/>
                </a:solidFill>
                <a:latin typeface="Calibri"/>
              </a:rPr>
              <a:t>mixed precision on a free Colab T4.</a:t>
            </a:r>
          </a:p>
        </p:txBody>
      </p:sp>
      <p:pic>
        <p:nvPicPr>
          <p:cNvPr id="7" name="Picture 6" descr="fig_lrf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2743200" cy="1828800"/>
          </a:xfrm>
          <a:prstGeom prst="rect">
            <a:avLst/>
          </a:prstGeom>
        </p:spPr>
      </p:pic>
      <p:pic>
        <p:nvPicPr>
          <p:cNvPr id="8" name="Picture 7" descr="fig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24349"/>
            <a:ext cx="5486400" cy="20781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779007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B7785"/>
                </a:solidFill>
                <a:latin typeface="Calibri"/>
              </a:rPr>
              <a:t>Best run: loss and accuracy per 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7432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resnet34 | 21.29 M params | 2+9 epochs | head lr 2.9e-05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Ablation: counting is ordinal, not just categorical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3017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Softmax head (standard)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222B38"/>
                </a:solidFill>
                <a:latin typeface="Calibri"/>
              </a:rPr>
              <a:t>6 outputs, cross-entropy
count = argmax
missing by 1 or by 4 costs the same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3017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Calibri"/>
              </a:rPr>
              <a:t>Ordinal head (ours)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222B38"/>
                </a:solidFill>
                <a:latin typeface="Calibri"/>
              </a:rPr>
              <a:t>5 outputs P(count &gt; k), k = 0..4, BCE
count = number of outputs above 0.5
e.g. 3 items -&gt; [1, 1, 1, 0, 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Test result: softmax 41.2% acc, RMSE 1.11   vs   ordinal 39.4% acc, RMSE 1.04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Results: CNN vs. classical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8016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371600"/>
            <a:ext cx="265176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81328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Calibri"/>
              </a:rPr>
              <a:t>41.2%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2212848"/>
            <a:ext cx="246887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best CNN 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26080"/>
            <a:ext cx="265176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035808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1F3A5F"/>
                </a:solidFill>
                <a:latin typeface="Calibri"/>
              </a:rPr>
              <a:t>1.11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767328"/>
            <a:ext cx="246887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RMSE (items)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480560"/>
            <a:ext cx="265176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590288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E76F51"/>
                </a:solidFill>
                <a:latin typeface="Calibri"/>
              </a:rPr>
              <a:t>2.5x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5321808"/>
            <a:ext cx="246887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vs random guessing (16.7%)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Where does it fail?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7378"/>
            <a:ext cx="4480560" cy="4008922"/>
          </a:xfrm>
          <a:prstGeom prst="rect">
            <a:avLst/>
          </a:prstGeom>
        </p:spPr>
      </p:pic>
      <p:pic>
        <p:nvPicPr>
          <p:cNvPr id="7" name="Picture 6" descr="fig_per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27259"/>
            <a:ext cx="4023360" cy="24490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13716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83.4% of bins are counted within +-1 item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MAE 0.78 items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Best on bins with 0 items (98%), weakest on 4 items (24%)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Qualitative examples (test 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ig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48739"/>
            <a:ext cx="768096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Top row: correct counts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Bottom row: mistakes - look for occlusion, tape or overlapping items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Some bins are hard to count even for a human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From counts to inventory reconciliation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Simulation: </a:t>
            </a:r>
            <a:r>
              <a:rPr sz="1600">
                <a:solidFill>
                  <a:srgbClr val="222B38"/>
                </a:solidFill>
                <a:latin typeface="Calibri"/>
              </a:rPr>
              <a:t>recorded count wrong by +-1/2 items in 15% of test bins (public data has only true counts).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Rule: </a:t>
            </a:r>
            <a:r>
              <a:rPr sz="1600">
                <a:solidFill>
                  <a:srgbClr val="222B38"/>
                </a:solidFill>
                <a:latin typeface="Calibri"/>
              </a:rPr>
              <a:t>flag a bin when predicted != recorded.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Score: </a:t>
            </a:r>
            <a:r>
              <a:rPr sz="1600">
                <a:solidFill>
                  <a:srgbClr val="222B38"/>
                </a:solidFill>
                <a:latin typeface="Calibri"/>
              </a:rPr>
              <a:t>1 - P(recorded count) as threshold-free detector (AUROC).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Calibri"/>
              </a:rPr>
              <a:t>19.4%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04288"/>
            <a:ext cx="23774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72768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Calibri"/>
              </a:rPr>
              <a:t>81.4%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304288"/>
            <a:ext cx="23774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0896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18688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1F3A5F"/>
                </a:solidFill>
                <a:latin typeface="Calibri"/>
              </a:rPr>
              <a:t>0.31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50208"/>
            <a:ext cx="23774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10896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218688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1F3A5F"/>
                </a:solidFill>
                <a:latin typeface="Calibri"/>
              </a:rPr>
              <a:t>0.73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950208"/>
            <a:ext cx="23774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AUROC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1">
                <a:solidFill>
                  <a:srgbClr val="6B7785"/>
                </a:solidFill>
                <a:latin typeface="Calibri"/>
              </a:rPr>
              <a:t>mean over 20 random draws of the simulated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52603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bin photo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11246" y="212140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4710" y="1554480"/>
            <a:ext cx="252603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Type recorded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57316" y="212140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0780" y="1554480"/>
            <a:ext cx="252603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Model counts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(+ TTA)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03386" y="212140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86850" y="1554480"/>
            <a:ext cx="2526030" cy="13716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MATCH 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Run: </a:t>
            </a:r>
            <a:r>
              <a:rPr sz="1800">
                <a:solidFill>
                  <a:srgbClr val="222B38"/>
                </a:solidFill>
                <a:latin typeface="Calibri"/>
              </a:rPr>
              <a:t>python demo.py --run runs/&lt;best&gt; --gradio  (public link in Colab)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CLI: </a:t>
            </a:r>
            <a:r>
              <a:rPr sz="1800">
                <a:solidFill>
                  <a:srgbClr val="222B38"/>
                </a:solidFill>
                <a:latin typeface="Calibri"/>
              </a:rPr>
              <a:t>python demo.py --run runs/&lt;best&gt; --image bin.jpg --recorded 3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Batch: </a:t>
            </a:r>
            <a:r>
              <a:rPr sz="1800">
                <a:solidFill>
                  <a:srgbClr val="222B38"/>
                </a:solidFill>
                <a:latin typeface="Calibri"/>
              </a:rPr>
              <a:t>--csv recorded.csv --images data/images -&gt; reconciliation_report.csv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Output: </a:t>
            </a:r>
            <a:r>
              <a:rPr sz="1800">
                <a:solidFill>
                  <a:srgbClr val="222B38"/>
                </a:solidFill>
                <a:latin typeface="Calibri"/>
              </a:rPr>
              <a:t>predicted count, class probabilities, P(recorded count), recount flag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Conclusions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CNN beats classical: </a:t>
            </a:r>
            <a:r>
              <a:rPr sz="2000">
                <a:solidFill>
                  <a:srgbClr val="222B38"/>
                </a:solidFill>
                <a:latin typeface="Calibri"/>
              </a:rPr>
              <a:t>41.2% test accuracy, RMSE 1.11 - 2.5x random, +29% vs best classical (31.9%).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Context: </a:t>
            </a:r>
            <a:r>
              <a:rPr sz="2000">
                <a:solidFill>
                  <a:srgbClr val="222B38"/>
                </a:solidFill>
                <a:latin typeface="Calibri"/>
              </a:rPr>
              <a:t>Stanford ResNet34 paper reports 56.2% / RMSE 0.90 on a different, larger subset - only indicative.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Practical: </a:t>
            </a:r>
            <a:r>
              <a:rPr sz="2000">
                <a:solidFill>
                  <a:srgbClr val="222B38"/>
                </a:solidFill>
                <a:latin typeface="Calibri"/>
              </a:rPr>
              <a:t>predicted counts can flag mismatching bins for targeted recounts.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Limits: </a:t>
            </a:r>
            <a:r>
              <a:rPr sz="2000">
                <a:solidFill>
                  <a:srgbClr val="222B38"/>
                </a:solidFill>
                <a:latin typeface="Calibri"/>
              </a:rPr>
              <a:t>occlusion caps accuracy; single split/seed; recording errors simulated.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Next: </a:t>
            </a:r>
            <a:r>
              <a:rPr sz="2000">
                <a:solidFill>
                  <a:srgbClr val="222B38"/>
                </a:solidFill>
                <a:latin typeface="Calibri"/>
              </a:rPr>
              <a:t>clean occluded labels, ensembles, higher resolution, multi-angle photos, real variance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Backup: setup details and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Aarush Patil &amp; Aryan Arora  |  PES1UG24AM005 / PES1UG24AM055  |  UE24CS352A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30,000 images, bins with 0-5 items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224x224 RGB, ImageNet normalisation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Best CNN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resnet34, cls head, 2+9 epochs, lr 2.9e-05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AdamW (wd 0.01), SGDR cosine restarts, 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Tesla T4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6.2 ms / image (batch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Repo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download_data, build_splits, baselines, train_cnn, make_results, demo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